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Черновик для внутреннего обсуждения. Цифр по деньгам здесь нет специально: сначала согласуем состав, потом считаем смету.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образ: светящийся шар на тёмном фоне. Браслеты работают и как билет на интерактивы, и как способ рассадить людей по новым группам.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Зоны связаны одним маршрутом, но в «Станции» и «Ледовом дворе» люди проведут больше всего времени вне столов, поэтому там много мест, где можно постоять и поговорить.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Речи занимают не больше 20 минут суммарно. Весь основной контент до 23:45, дальше музыка и свободное общение.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Площадка выбрана по вместимости зала и разрешённому времени музыки. Договор аренды пока на согласовании.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Потолочное полотно зависит от допустимой нагрузки на точки подвеса в зале: ждём схему от площадки.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Выбор горячего гости делают при регистрации, на столах стоят карточки по группам.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четыре интерактива не требуют от гостей выходить на сцену: участие добровольное.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смете нужно учесть, что гонорар хедлайнера оговорён в евро, остальные артисты в рублях.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Количество автобусов считаем с запасом по местам: 245 мест на 200 гостей.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949440" y="-365760"/>
            <a:ext cx="6217920" cy="2011680"/>
          </a:xfrm>
          <a:prstGeom prst="ellipse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640080"/>
            <a:ext cx="5120640" cy="1828800"/>
          </a:xfrm>
          <a:prstGeom prst="ellipse">
            <a:avLst/>
          </a:prstGeom>
          <a:solidFill>
            <a:srgbClr val="1D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1645920"/>
            <a:ext cx="4206240" cy="1463040"/>
          </a:xfrm>
          <a:prstGeom prst="ellipse">
            <a:avLst/>
          </a:prstGeom>
          <a:solidFill>
            <a:srgbClr val="1F7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651760"/>
            <a:ext cx="3291840" cy="1097280"/>
          </a:xfrm>
          <a:prstGeom prst="ellipse">
            <a:avLst/>
          </a:prstGeom>
          <a:solidFill>
            <a:srgbClr val="5E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7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822960"/>
            <a:ext cx="164592" cy="164592"/>
          </a:xfrm>
          <a:prstGeom prst="ellipse">
            <a:avLst/>
          </a:prstGeom>
          <a:solidFill>
            <a:srgbClr val="E4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94560" y="457200"/>
            <a:ext cx="109728" cy="109728"/>
          </a:xfrm>
          <a:prstGeom prst="ellipse">
            <a:avLst/>
          </a:prstGeom>
          <a:solidFill>
            <a:srgbClr val="E4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49039" y="1097280"/>
            <a:ext cx="146304" cy="146304"/>
          </a:xfrm>
          <a:prstGeom prst="ellipse">
            <a:avLst/>
          </a:prstGeom>
          <a:solidFill>
            <a:srgbClr val="E4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640080"/>
            <a:ext cx="91440" cy="91440"/>
          </a:xfrm>
          <a:prstGeom prst="ellipse">
            <a:avLst/>
          </a:prstGeom>
          <a:solidFill>
            <a:srgbClr val="E4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71600" y="1920240"/>
            <a:ext cx="109728" cy="109728"/>
          </a:xfrm>
          <a:prstGeom prst="ellipse">
            <a:avLst/>
          </a:prstGeom>
          <a:solidFill>
            <a:srgbClr val="E4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60720" y="2194560"/>
            <a:ext cx="128016" cy="128016"/>
          </a:xfrm>
          <a:prstGeom prst="ellipse">
            <a:avLst/>
          </a:prstGeom>
          <a:solidFill>
            <a:srgbClr val="E4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26080" y="2651760"/>
            <a:ext cx="91440" cy="91440"/>
          </a:xfrm>
          <a:prstGeom prst="ellipse">
            <a:avLst/>
          </a:prstGeom>
          <a:solidFill>
            <a:srgbClr val="E4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Полярная ночь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8686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>
                <a:solidFill>
                  <a:srgbClr val="9FD8F0"/>
                </a:solidFill>
                <a:latin typeface="Arial"/>
              </a:rPr>
              <a:t>Концепция новогоднего вечера для «Технополис Софт»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26 декабря 2026 · Усадьба Лесные Дали · 200 гостей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60720"/>
            <a:ext cx="8229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B8C7D9"/>
                </a:solidFill>
                <a:latin typeface="Arial"/>
              </a:rPr>
              <a:t>Черновик v0.3, автор: Ксения Левина, креативный директор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B8C7D9"/>
                </a:solidFill>
                <a:latin typeface="Arial"/>
              </a:rPr>
              <a:t>Цены не включены: смета считается отдельно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5E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Идея: ночь, которая светится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B8C7D9"/>
                </a:solidFill>
                <a:latin typeface="Arial"/>
              </a:rPr>
              <a:t>Полярная ночь · черновик концепции v0.3 · для «Технополис Софт»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B8C7D9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6035040" cy="493776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66928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Гости приезжают не на корпоратив, а на полярную станцию.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9FD8F0"/>
                </a:solidFill>
                <a:latin typeface="Arial"/>
              </a:rPr>
              <a:t>Снаружи темно и холодно, внутри свет, тепло и северное сияние над головой.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5669280" cy="2834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EE0B8"/>
                </a:solidFill>
                <a:latin typeface="Arial"/>
              </a:rPr>
              <a:t>Сюжет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Сотрудники «Технополис Софт» участвуют в экспедиции «Станция-26». Ведущий выступает как начальник станции.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5EE0B8"/>
                </a:solidFill>
                <a:latin typeface="Arial"/>
              </a:rPr>
              <a:t>Образ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20 экспедиционных групп по 10 человек. Светодиодные браслеты пяти цветов, чтобы за столами перемешались бывшие отделы.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5EE0B8"/>
                </a:solidFill>
                <a:latin typeface="Arial"/>
              </a:rPr>
              <a:t>Настроение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Холодный свет на улице и у входа, тёплый в банкетном зале и у каминов. Графитовый и электрик-синий из фирменных цветов клиента.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280160"/>
            <a:ext cx="2331720" cy="1600200"/>
          </a:xfrm>
          <a:prstGeom prst="roundRect">
            <a:avLst>
              <a:gd name="adj" fmla="val 6000"/>
            </a:avLst>
          </a:prstGeom>
          <a:solidFill>
            <a:srgbClr val="1D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417319"/>
            <a:ext cx="23317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4400" b="1">
                <a:solidFill>
                  <a:srgbClr val="5EE0B8"/>
                </a:solidFill>
                <a:latin typeface="Arial"/>
              </a:rPr>
              <a:t>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40280"/>
            <a:ext cx="21488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гостей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1280160"/>
            <a:ext cx="2331720" cy="1600200"/>
          </a:xfrm>
          <a:prstGeom prst="roundRect">
            <a:avLst>
              <a:gd name="adj" fmla="val 6000"/>
            </a:avLst>
          </a:prstGeom>
          <a:solidFill>
            <a:srgbClr val="1D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1417319"/>
            <a:ext cx="23317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4400" b="1">
                <a:solidFill>
                  <a:srgbClr val="5EE0B8"/>
                </a:solidFill>
                <a:latin typeface="Arial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2240280"/>
            <a:ext cx="21488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групп по 10 человек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3063239"/>
            <a:ext cx="2331720" cy="1600200"/>
          </a:xfrm>
          <a:prstGeom prst="roundRect">
            <a:avLst>
              <a:gd name="adj" fmla="val 6000"/>
            </a:avLst>
          </a:prstGeom>
          <a:solidFill>
            <a:srgbClr val="1D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200399"/>
            <a:ext cx="23317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4400" b="1">
                <a:solidFill>
                  <a:srgbClr val="5EE0B8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023359"/>
            <a:ext cx="21488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зон вечера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3063239"/>
            <a:ext cx="2331720" cy="1600200"/>
          </a:xfrm>
          <a:prstGeom prst="roundRect">
            <a:avLst>
              <a:gd name="adj" fmla="val 6000"/>
            </a:avLst>
          </a:prstGeom>
          <a:solidFill>
            <a:srgbClr val="1D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3200399"/>
            <a:ext cx="23317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4400" b="1">
                <a:solidFill>
                  <a:srgbClr val="5EE0B8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4023359"/>
            <a:ext cx="21488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интерактива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4892040"/>
            <a:ext cx="4846320" cy="132588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4983480"/>
            <a:ext cx="448056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9FD8F0"/>
                </a:solidFill>
                <a:latin typeface="Arial"/>
              </a:rPr>
              <a:t>8 часов: 18:00-02:00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26 декабря 2026 года, суббота. Монтаж 25 декабря, демонтаж 27 декабря.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5E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Путь гостя: пять зон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9FD8F0"/>
                </a:solidFill>
                <a:latin typeface="Arial"/>
              </a:rPr>
              <a:t>Гость проходит их по порядку, но в любой момент может вернуться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B8C7D9"/>
                </a:solidFill>
                <a:latin typeface="Arial"/>
              </a:rPr>
              <a:t>Полярная ночь · черновик концепции v0.3 · для «Технополис Софт»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B8C7D9"/>
                </a:solidFill>
                <a:latin typeface="Arial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691640"/>
            <a:ext cx="54864" cy="3977639"/>
          </a:xfrm>
          <a:prstGeom prst="rect">
            <a:avLst/>
          </a:prstGeom>
          <a:solidFill>
            <a:srgbClr val="1D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11247120" cy="896112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21792" y="1600200"/>
            <a:ext cx="530352" cy="530352"/>
          </a:xfrm>
          <a:prstGeom prst="ellipse">
            <a:avLst/>
          </a:prstGeom>
          <a:solidFill>
            <a:srgbClr val="5E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600200"/>
            <a:ext cx="530352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B1F3A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508760"/>
            <a:ext cx="2468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9FD8F0"/>
                </a:solidFill>
                <a:latin typeface="Arial"/>
              </a:rPr>
              <a:t>Шлюз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B8C7D9"/>
                </a:solidFill>
                <a:latin typeface="Arial"/>
              </a:rPr>
              <a:t>18:00-19:00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490472"/>
            <a:ext cx="77724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Вход и регистрация. 3 ледяные арки, 4 стойки регистрации, гардероб на 220 мест, welcome-напиток и выдача браслетов. Пропускная способность: 200 человек за 45 минут.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1792" y="2569464"/>
            <a:ext cx="530352" cy="530352"/>
          </a:xfrm>
          <a:prstGeom prst="ellipse">
            <a:avLst/>
          </a:prstGeom>
          <a:solidFill>
            <a:srgbClr val="5E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69464"/>
            <a:ext cx="530352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B1F3A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478024"/>
            <a:ext cx="2468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9FD8F0"/>
                </a:solidFill>
                <a:latin typeface="Arial"/>
              </a:rPr>
              <a:t>Базовый лагерь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B8C7D9"/>
                </a:solidFill>
                <a:latin typeface="Arial"/>
              </a:rPr>
              <a:t>19:00-20:00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459736"/>
            <a:ext cx="77724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Фуршет и лаунж в оранжерее, каминном зале и под тёплыми навесами во дворе: 6 фуршетных островов, 8 лаунж-групп по 6 мест, 2 бара. Играет джаз-трио.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55848"/>
            <a:ext cx="11247120" cy="896112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1792" y="3538728"/>
            <a:ext cx="530352" cy="530352"/>
          </a:xfrm>
          <a:prstGeom prst="ellipse">
            <a:avLst/>
          </a:prstGeom>
          <a:solidFill>
            <a:srgbClr val="5E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538728"/>
            <a:ext cx="530352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B1F3A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447288"/>
            <a:ext cx="2468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9FD8F0"/>
                </a:solidFill>
                <a:latin typeface="Arial"/>
              </a:rPr>
              <a:t>Зал Сияния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B8C7D9"/>
                </a:solidFill>
                <a:latin typeface="Arial"/>
              </a:rPr>
              <a:t>20:00-02:00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429000"/>
            <a:ext cx="77724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Банкетный зал «Хрустальный». 20 столов по 10 человек, сцена 8 x 5 м, LED-экран 6 x 3,4 м, над головой 400 м² светящегося полотна.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25112"/>
            <a:ext cx="11247120" cy="896112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1792" y="4507992"/>
            <a:ext cx="530352" cy="530352"/>
          </a:xfrm>
          <a:prstGeom prst="ellipse">
            <a:avLst/>
          </a:prstGeom>
          <a:solidFill>
            <a:srgbClr val="5E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507992"/>
            <a:ext cx="530352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B1F3A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416552"/>
            <a:ext cx="2468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9FD8F0"/>
                </a:solidFill>
                <a:latin typeface="Arial"/>
              </a:rPr>
              <a:t>Ледовый двор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B8C7D9"/>
                </a:solidFill>
                <a:latin typeface="Arial"/>
              </a:rPr>
              <a:t>в течение вечера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398264"/>
            <a:ext cx="77724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Улица: 6 биокаминов, глинтвейн-бар, ледяная скульптура, 3 фототочки. Тёплые пледы на 100 человек.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94376"/>
            <a:ext cx="11247120" cy="896112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" y="5477256"/>
            <a:ext cx="530352" cy="530352"/>
          </a:xfrm>
          <a:prstGeom prst="ellipse">
            <a:avLst/>
          </a:prstGeom>
          <a:solidFill>
            <a:srgbClr val="5E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477256"/>
            <a:ext cx="530352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0B1F3A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385816"/>
            <a:ext cx="2468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9FD8F0"/>
                </a:solidFill>
                <a:latin typeface="Arial"/>
              </a:rPr>
              <a:t>Станция «Полюс»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B8C7D9"/>
                </a:solidFill>
                <a:latin typeface="Arial"/>
              </a:rPr>
              <a:t>20:20-23:30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367528"/>
            <a:ext cx="77724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Интерактивы: проекционный тоннель, платформа 360°, стартовая точка квеста. Рядом тихая комната на 20 мест без громкой музыки.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5E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Тайминг вечера: 18:00-02:00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B8C7D9"/>
                </a:solidFill>
                <a:latin typeface="Arial"/>
              </a:rPr>
              <a:t>Полярная ночь · черновик концепции v0.3 · для «Технополис Софт»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B8C7D9"/>
                </a:solidFill>
                <a:latin typeface="Arial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47120" cy="484632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920240" cy="4297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0B8"/>
                </a:solidFill>
                <a:latin typeface="Arial"/>
              </a:rPr>
              <a:t>18:00-19:00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161288"/>
            <a:ext cx="9052560" cy="4480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Сбор гостей, регистрация, welcome-напиток, выдача браслетов (зона «Шлюз»)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55064"/>
            <a:ext cx="11247120" cy="484632"/>
          </a:xfrm>
          <a:prstGeom prst="rect">
            <a:avLst/>
          </a:prstGeom>
          <a:solidFill>
            <a:srgbClr val="1D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82496"/>
            <a:ext cx="1920240" cy="4297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0B8"/>
                </a:solidFill>
                <a:latin typeface="Arial"/>
              </a:rPr>
              <a:t>19:00-20:00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673352"/>
            <a:ext cx="9052560" cy="4480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Фуршет в «Базовом лагере», живой джаз-трио, свободное общение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67128"/>
            <a:ext cx="11247120" cy="484632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194560"/>
            <a:ext cx="1920240" cy="4297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0B8"/>
                </a:solidFill>
                <a:latin typeface="Arial"/>
              </a:rPr>
              <a:t>20:00-20:20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185416"/>
            <a:ext cx="9052560" cy="4480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Открытие: ведущий, слово генерального директора, видеоролик об итогах года (3 минуты)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79192"/>
            <a:ext cx="11247120" cy="484632"/>
          </a:xfrm>
          <a:prstGeom prst="rect">
            <a:avLst/>
          </a:prstGeom>
          <a:solidFill>
            <a:srgbClr val="1D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706624"/>
            <a:ext cx="1920240" cy="4297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0B8"/>
                </a:solidFill>
                <a:latin typeface="Arial"/>
              </a:rPr>
              <a:t>20:20-22:00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697480"/>
            <a:ext cx="9052560" cy="4480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Банкет в зале «Сияния»: горячее, тосты, награждение «Полярная премия» (12 номинаций)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91256"/>
            <a:ext cx="11247120" cy="484632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218688"/>
            <a:ext cx="1920240" cy="4297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0B8"/>
                </a:solidFill>
                <a:latin typeface="Arial"/>
              </a:rPr>
              <a:t>22:00-22:45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209544"/>
            <a:ext cx="9052560" cy="4480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Шоу: световые танцоры (номер 1) и первый сет хедлайнера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03320"/>
            <a:ext cx="11247120" cy="484632"/>
          </a:xfrm>
          <a:prstGeom prst="rect">
            <a:avLst/>
          </a:prstGeom>
          <a:solidFill>
            <a:srgbClr val="1D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730752"/>
            <a:ext cx="1920240" cy="4297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0B8"/>
                </a:solidFill>
                <a:latin typeface="Arial"/>
              </a:rPr>
              <a:t>22:45-23:35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3721608"/>
            <a:ext cx="9052560" cy="4480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Интерактивы, финал квеста «Экспедиция», «Ледовый двор»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15384"/>
            <a:ext cx="11247120" cy="484632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242816"/>
            <a:ext cx="1920240" cy="4297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0B8"/>
                </a:solidFill>
                <a:latin typeface="Arial"/>
              </a:rPr>
              <a:t>23:35-00:20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4233672"/>
            <a:ext cx="9052560" cy="4480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Световые танцоры (номер 2) и второй сет хедлайнера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27448"/>
            <a:ext cx="11247120" cy="484632"/>
          </a:xfrm>
          <a:prstGeom prst="rect">
            <a:avLst/>
          </a:prstGeom>
          <a:solidFill>
            <a:srgbClr val="1D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754880"/>
            <a:ext cx="1920240" cy="4297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0B8"/>
                </a:solidFill>
                <a:latin typeface="Arial"/>
              </a:rPr>
              <a:t>00:20-01:00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745736"/>
            <a:ext cx="9052560" cy="4480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Кавер-группа «Полюс-бэнд», десертная станция до 00:30, ночной стол с 00:30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239512"/>
            <a:ext cx="11247120" cy="484632"/>
          </a:xfrm>
          <a:prstGeom prst="rect">
            <a:avLst/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266944"/>
            <a:ext cx="1920240" cy="4297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0B8"/>
                </a:solidFill>
                <a:latin typeface="Arial"/>
              </a:rPr>
              <a:t>01:00-02:00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5257800"/>
            <a:ext cx="9052560" cy="4480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Танцпол с диджеем, награждение лучших групп квеста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751576"/>
            <a:ext cx="11247120" cy="484632"/>
          </a:xfrm>
          <a:prstGeom prst="rect">
            <a:avLst/>
          </a:prstGeom>
          <a:solidFill>
            <a:srgbClr val="1D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779008"/>
            <a:ext cx="1920240" cy="4297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0B8"/>
                </a:solidFill>
                <a:latin typeface="Arial"/>
              </a:rPr>
              <a:t>02:00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5769864"/>
            <a:ext cx="9052560" cy="4480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Завершение, посадка в автобусы (рейсы в Москву 00:30, 01:15 и 02:00)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5E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Площадка: Усадьба Лесные Дали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9FD8F0"/>
                </a:solidFill>
                <a:latin typeface="Arial"/>
              </a:rPr>
              <a:t>62 км от МКАД по Новорижскому шоссе, около 1 часа 15 минут на автобусе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B8C7D9"/>
                </a:solidFill>
                <a:latin typeface="Arial"/>
              </a:rPr>
              <a:t>Полярная ночь · черновик концепции v0.3 · для «Технополис Софт»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B8C7D9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514600" cy="1508760"/>
          </a:xfrm>
          <a:prstGeom prst="roundRect">
            <a:avLst>
              <a:gd name="adj" fmla="val 6000"/>
            </a:avLst>
          </a:prstGeom>
          <a:solidFill>
            <a:srgbClr val="1D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514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3400" b="1">
                <a:solidFill>
                  <a:srgbClr val="5EE0B8"/>
                </a:solidFill>
                <a:latin typeface="Arial"/>
              </a:rPr>
              <a:t>220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40280"/>
            <a:ext cx="22860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человек в банкетном зале «Хрустальный»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463040"/>
            <a:ext cx="2514600" cy="1508760"/>
          </a:xfrm>
          <a:prstGeom prst="roundRect">
            <a:avLst>
              <a:gd name="adj" fmla="val 6000"/>
            </a:avLst>
          </a:prstGeom>
          <a:solidFill>
            <a:srgbClr val="1D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554480"/>
            <a:ext cx="2514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3400" b="1">
                <a:solidFill>
                  <a:srgbClr val="5EE0B8"/>
                </a:solidFill>
                <a:latin typeface="Arial"/>
              </a:rPr>
              <a:t>62 км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240280"/>
            <a:ext cx="22860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от МКАД, свой подъезд для автобусов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54680"/>
            <a:ext cx="2514600" cy="1508760"/>
          </a:xfrm>
          <a:prstGeom prst="roundRect">
            <a:avLst>
              <a:gd name="adj" fmla="val 6000"/>
            </a:avLst>
          </a:prstGeom>
          <a:solidFill>
            <a:srgbClr val="1D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46120"/>
            <a:ext cx="2514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3400" b="1">
                <a:solidFill>
                  <a:srgbClr val="5EE0B8"/>
                </a:solidFill>
                <a:latin typeface="Arial"/>
              </a:rPr>
              <a:t>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931920"/>
            <a:ext cx="22860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номеров (96 мест) на территории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3154680"/>
            <a:ext cx="2514600" cy="1508760"/>
          </a:xfrm>
          <a:prstGeom prst="roundRect">
            <a:avLst>
              <a:gd name="adj" fmla="val 6000"/>
            </a:avLst>
          </a:prstGeom>
          <a:solidFill>
            <a:srgbClr val="1D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3246120"/>
            <a:ext cx="2514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3400" b="1">
                <a:solidFill>
                  <a:srgbClr val="5EE0B8"/>
                </a:solidFill>
                <a:latin typeface="Arial"/>
              </a:rPr>
              <a:t>120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3931920"/>
            <a:ext cx="228600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мест парковки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463040"/>
            <a:ext cx="5669280" cy="306324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554480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FD8F0"/>
                </a:solidFill>
                <a:latin typeface="Arial"/>
              </a:rPr>
              <a:t>Как используем помещения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938528"/>
            <a:ext cx="5394960" cy="2514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Зал «Хрустальный», 480 м²: банкет, сцена, экран, потолочный декор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Оранжерея на 80 человек: фуршет и лаунж «Базового лагеря»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Каминный зал на 60 человек: лаунж и тихая комната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Двор, около 4 га: «Ледовый двор», биокамины, фототочки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2 гримёрные для артистов и технические помещения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4663440"/>
            <a:ext cx="5669280" cy="164592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4754879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FD8F0"/>
                </a:solidFill>
                <a:latin typeface="Arial"/>
              </a:rPr>
              <a:t>Ограничения площадки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5138927"/>
            <a:ext cx="53949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Музыка на улице до 23:00, в помещениях до 02:00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Открытый огонь только в биокаминах, пиротехника запрещена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Внешний кейтеринг разрешён, кухня предоставляется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46320"/>
            <a:ext cx="5303520" cy="146304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937760"/>
            <a:ext cx="502920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9FD8F0"/>
                </a:solidFill>
                <a:latin typeface="Arial"/>
              </a:rPr>
              <a:t>Период аренды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С 08:00 25 декабря (монтаж) до 14:00 27 декабря (демонтаж). Мероприятие 26 декабря с 18:00.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5E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Декор и свет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B8C7D9"/>
                </a:solidFill>
                <a:latin typeface="Arial"/>
              </a:rPr>
              <a:t>Полярная ночь · черновик концепции v0.3 · для «Технополис Софт»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B8C7D9"/>
                </a:solidFill>
                <a:latin typeface="Arial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577840" cy="498348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FD8F0"/>
                </a:solidFill>
                <a:latin typeface="Arial"/>
              </a:rPr>
              <a:t>Декор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5303520" cy="4434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3 ледяные арки на входе: высота 3,2 м, ширина 2,5 м, акрил и холодная подсветка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Потолочное полотно «Аврора»: 400 м² светодинамической ткани, три цвета (зелёный, бирюзовый, фиолетовый)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20 столов с графитовыми скатертями, в центре композиция: белая ель, акриловый лёд, 3 LED-свечи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40 белых искусственных елей высотой 1,5-2,5 м по периметру зала и во дворе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60 световых «льдин» из акрила, 40-120 см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6 биокаминов и 300 м гирлянд «северное небо» во дворе, тёплые пледы на 100 человек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Фотозона: белая стена со снегом и неоновая надпись «Станция-26»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274320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FD8F0"/>
                </a:solidFill>
                <a:latin typeface="Arial"/>
              </a:rPr>
              <a:t>Свет и экран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55648"/>
            <a:ext cx="521208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48 световых приборов LED wash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16 движущихся голов, 4 лазера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2 генератора холодного дыма (по согласованию с площадкой)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Пульт DMX, световой оператор на весь вечер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LED-экран 6 x 3,4 м за сценой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6052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251959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FD8F0"/>
                </a:solidFill>
                <a:latin typeface="Arial"/>
              </a:rPr>
              <a:t>Звук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636008"/>
            <a:ext cx="5212080" cy="15544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Акустика line-array 2 x 6 элементов и 4 сабвуфера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8 сценических мониторов, 12 радиомикрофонов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Отдельная система в «Базовом лагере» для джаз-трио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5E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Кейтеринг: фуршет и банкет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9FD8F0"/>
                </a:solidFill>
                <a:latin typeface="Arial"/>
              </a:rPr>
              <a:t>Расчёт на 200 гостей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B8C7D9"/>
                </a:solidFill>
                <a:latin typeface="Arial"/>
              </a:rPr>
              <a:t>Полярная ночь · черновик концепции v0.3 · для «Технополис Софт»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B8C7D9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577840" cy="329184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FD8F0"/>
                </a:solidFill>
                <a:latin typeface="Arial"/>
              </a:rPr>
              <a:t>Фуршет 19:00-20:00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5303520" cy="2743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12 позиций: 4 холодные закуски, 4 канапе, 2 горячие, 2 вегетарианские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6 фуршетных островов, повторное пополнение каждые 20 минут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Welcome-напиток при входе и 2 бара в зоне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Безалкогольные: вода, 3 морса, 2 лимонада, чай и кофе-станция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6304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FD8F0"/>
                </a:solidFill>
                <a:latin typeface="Arial"/>
              </a:rPr>
              <a:t>Банкет 20:20-22:00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47088"/>
            <a:ext cx="5212080" cy="2743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Холодные закуски на столы: 5 позиций на стол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Горячее на выбор: рыба, мясо или овощное блюдо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Десерт и десертная станция, работает до 00:30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Спецпитание: 18 вегетарианских, 4 без глютена, 6 безлактозных порций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00600"/>
            <a:ext cx="3657600" cy="146304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892040"/>
            <a:ext cx="3383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FD8F0"/>
                </a:solidFill>
                <a:latin typeface="Arial"/>
              </a:rPr>
              <a:t>Бар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276088"/>
            <a:ext cx="338328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2 бара + глинтвейн-станция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6 барменов, вино, пиво, 4 коктейля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4800600"/>
            <a:ext cx="3657600" cy="146304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892040"/>
            <a:ext cx="3383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FD8F0"/>
                </a:solidFill>
                <a:latin typeface="Arial"/>
              </a:rPr>
              <a:t>Ночной стол с 00:30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276088"/>
            <a:ext cx="338328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Горячий суп и сэндвичи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на 100 порций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800600"/>
            <a:ext cx="3657600" cy="146304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4892040"/>
            <a:ext cx="3383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FD8F0"/>
                </a:solidFill>
                <a:latin typeface="Arial"/>
              </a:rPr>
              <a:t>Персонал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5276088"/>
            <a:ext cx="338328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16 официантов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7 поваров выездной кухни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5E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Интерактивы: четыре точки внимания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B8C7D9"/>
                </a:solidFill>
                <a:latin typeface="Arial"/>
              </a:rPr>
              <a:t>Полярная ночь · черновик концепции v0.3 · для «Технополис Софт»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B8C7D9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FD8F0"/>
                </a:solidFill>
                <a:latin typeface="Arial"/>
              </a:rPr>
              <a:t>1. Аврора-тоннель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5212080" cy="17830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Проекционный тоннель длиной 12 м на 2 проекторах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Рисунок реагирует на движение гостей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Работает 20:20-23:30, один оператор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FD8F0"/>
                </a:solidFill>
                <a:latin typeface="Arial"/>
              </a:rPr>
              <a:t>2. Платформа 360° «На льдине»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55648"/>
            <a:ext cx="5212080" cy="17830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Вращающаяся платформа для видео 360°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150-200 роликов за вечер, выдача по QR за 2 минуты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1 оператор, брендированный фон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9476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88620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FD8F0"/>
                </a:solidFill>
                <a:latin typeface="Arial"/>
              </a:rPr>
              <a:t>3. Ледовая скульптура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70248"/>
            <a:ext cx="5212080" cy="17830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Мастер вырезает логотип «Технополис Софт» из 2 блоков по 150 кг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Работа идёт во дворе 21:00-23:00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Финал в 23:00, гости делают общее фото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9476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88620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FD8F0"/>
                </a:solidFill>
                <a:latin typeface="Arial"/>
              </a:rPr>
              <a:t>4. Квест «Экспедиция»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270248"/>
            <a:ext cx="5212080" cy="17830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20 команд по 10 человек, 8 станций, 45 минут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Цветные браслеты и QR-метки, результаты на экране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• Ведущий-координатор и 8 хостес на станциях, призы закупает клиент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5E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Артисты и ведущий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B8C7D9"/>
                </a:solidFill>
                <a:latin typeface="Arial"/>
              </a:rPr>
              <a:t>Полярная ночь · черновик концепции v0.3 · для «Технополис Софт»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B8C7D9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73152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35024"/>
            <a:ext cx="35661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9FD8F0"/>
                </a:solidFill>
                <a:latin typeface="Arial"/>
              </a:rPr>
              <a:t>Ведущий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B8C7D9"/>
                </a:solidFill>
                <a:latin typeface="Arial"/>
              </a:rPr>
              <a:t>Дмитрий Орлов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335024"/>
            <a:ext cx="73152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1 человек, с 19:30 до 01:00. Роль: начальник станции.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11247120" cy="731520"/>
          </a:xfrm>
          <a:prstGeom prst="roundRect">
            <a:avLst>
              <a:gd name="adj" fmla="val 6000"/>
            </a:avLst>
          </a:prstGeom>
          <a:solidFill>
            <a:srgbClr val="1D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57984"/>
            <a:ext cx="35661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9FD8F0"/>
                </a:solidFill>
                <a:latin typeface="Arial"/>
              </a:rPr>
              <a:t>Джаз-трио «Тихий берег»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B8C7D9"/>
                </a:solidFill>
                <a:latin typeface="Arial"/>
              </a:rPr>
              <a:t>фуршет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57984"/>
            <a:ext cx="73152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3 музыканта, 19:00-20:00, акустический сет.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79"/>
            <a:ext cx="11247120" cy="73152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80944"/>
            <a:ext cx="35661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9FD8F0"/>
                </a:solidFill>
                <a:latin typeface="Arial"/>
              </a:rPr>
              <a:t>Хедлайнер Mira Vesna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B8C7D9"/>
                </a:solidFill>
                <a:latin typeface="Arial"/>
              </a:rPr>
              <a:t>Рига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980944"/>
            <a:ext cx="73152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вокал + 2 музыканта, 2 сета по 35 минут: в 22:10 и в 23:45. Гонорар оговорён в евро.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11247120" cy="731520"/>
          </a:xfrm>
          <a:prstGeom prst="roundRect">
            <a:avLst>
              <a:gd name="adj" fmla="val 6000"/>
            </a:avLst>
          </a:prstGeom>
          <a:solidFill>
            <a:srgbClr val="1D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03903"/>
            <a:ext cx="35661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9FD8F0"/>
                </a:solidFill>
                <a:latin typeface="Arial"/>
              </a:rPr>
              <a:t>Кавер-группа «Полюс-бэнд»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B8C7D9"/>
                </a:solidFill>
                <a:latin typeface="Arial"/>
              </a:rPr>
              <a:t>5 человек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803903"/>
            <a:ext cx="73152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сет 40 минут, 00:20-01:00.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11247120" cy="73152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26864"/>
            <a:ext cx="35661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9FD8F0"/>
                </a:solidFill>
                <a:latin typeface="Arial"/>
              </a:rPr>
              <a:t>Световые танцоры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B8C7D9"/>
                </a:solidFill>
                <a:latin typeface="Arial"/>
              </a:rPr>
              <a:t>6 артистов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626864"/>
            <a:ext cx="73152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2 номера по 8 минут: в 22:00 и в 23:35.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94960"/>
            <a:ext cx="11247120" cy="731520"/>
          </a:xfrm>
          <a:prstGeom prst="roundRect">
            <a:avLst>
              <a:gd name="adj" fmla="val 6000"/>
            </a:avLst>
          </a:prstGeom>
          <a:solidFill>
            <a:srgbClr val="1D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49824"/>
            <a:ext cx="35661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9FD8F0"/>
                </a:solidFill>
                <a:latin typeface="Arial"/>
              </a:rPr>
              <a:t>Диджей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B8C7D9"/>
                </a:solidFill>
                <a:latin typeface="Arial"/>
              </a:rPr>
              <a:t>1 человек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449824"/>
            <a:ext cx="73152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Arial"/>
              </a:rPr>
              <a:t>сет 01:00-02:00, музыка для танцпола, плей-лист согласуем с клиентом.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8C7D9"/>
                </a:solidFill>
                <a:latin typeface="Arial"/>
              </a:rPr>
              <a:t>Райдеры артистов по звуку и свету в работе, гримёрные: 2 комнаты на территории площадки.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5E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Трансфер и логистика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B8C7D9"/>
                </a:solidFill>
                <a:latin typeface="Arial"/>
              </a:rPr>
              <a:t>Полярная ночь · черновик концепции v0.3 · для «Технополис Софт»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B8C7D9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657600" cy="393192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3383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FD8F0"/>
                </a:solidFill>
                <a:latin typeface="Arial"/>
              </a:rPr>
              <a:t>Автобусы для гостей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3383280" cy="33832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5 автобусов по 49 мест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Туда: сбор в 16:30 у офиса, выезд в 16:45, прибытие около 18:00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Обратно: 00:30 (2 автобуса), 01:15 (2), 02:00 (1)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В пути около 1 часа 15 минут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На автобус по хостес-сопровождающему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657600" cy="393192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371600"/>
            <a:ext cx="3383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FD8F0"/>
                </a:solidFill>
                <a:latin typeface="Arial"/>
              </a:rPr>
              <a:t>График на площадке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55648"/>
            <a:ext cx="3383280" cy="33832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25 декабря 08:00: заезд, монтаж сцены, света, звука и декора, 24 монтажника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26 декабря 12:00-15:00: репетиция и техпрогон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26 декабря 16:00: открытие точек питания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27 декабря 06:00-14:00: демонтаж и вывоз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657600" cy="3931920"/>
          </a:xfrm>
          <a:prstGeom prst="roundRect">
            <a:avLst>
              <a:gd name="adj" fmla="val 6000"/>
            </a:avLst>
          </a:prstGeom>
          <a:solidFill>
            <a:srgbClr val="14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371600"/>
            <a:ext cx="3383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FD8F0"/>
                </a:solidFill>
                <a:latin typeface="Arial"/>
              </a:rPr>
              <a:t>Команда на площадке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755648"/>
            <a:ext cx="3383280" cy="33832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1 продюсер и 3 координатора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12 хостес, 3 гардеробщика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4 охранника и 1 медик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2 фотографа и 1 видеограф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• Номера: 10 для артистов и техники на ночь 26-27 декабря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4924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1D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108813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5EE0B8"/>
                </a:solidFill>
                <a:latin typeface="Arial"/>
              </a:rPr>
              <a:t>Пока не решено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Ночёвка гостей в концепцию не входит и будет решаться отдельно после ответа клиента. Парковка для личных машин: 120 мест.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Полярная ночь: концепция</dc:title>
  <dc:subject/>
  <dc:creator>Ксения Левина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